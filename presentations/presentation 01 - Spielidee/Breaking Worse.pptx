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5" r:id="rId3"/>
    <p:sldId id="280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74394" autoAdjust="0"/>
  </p:normalViewPr>
  <p:slideViewPr>
    <p:cSldViewPr snapToGrid="0">
      <p:cViewPr varScale="1">
        <p:scale>
          <a:sx n="149" d="100"/>
          <a:sy n="149" d="100"/>
        </p:scale>
        <p:origin x="189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A15F9-5322-44D7-A785-40EEB3058E2C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302C0-270A-4CDC-A334-B2329532F01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547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Ein Unglück kommt selten allein, du hast Krebs und die Heilung kostet ein Vermögen. </a:t>
            </a:r>
          </a:p>
          <a:p>
            <a:endParaRPr lang="de-DE" dirty="0"/>
          </a:p>
          <a:p>
            <a:r>
              <a:rPr lang="de-DE" dirty="0"/>
              <a:t>Wo sollst du nur so schnell so viel Geld herbekommen? </a:t>
            </a:r>
          </a:p>
          <a:p>
            <a:endParaRPr lang="de-DE" dirty="0"/>
          </a:p>
          <a:p>
            <a:r>
              <a:rPr lang="de-DE" dirty="0"/>
              <a:t>Zum Glück hat dein bester Freund eine Idee: </a:t>
            </a:r>
          </a:p>
          <a:p>
            <a:r>
              <a:rPr lang="de-DE" dirty="0"/>
              <a:t>	Ihr steigt zusammen in das lokale Drogengeschäft ein. </a:t>
            </a:r>
          </a:p>
          <a:p>
            <a:r>
              <a:rPr lang="de-DE" dirty="0"/>
              <a:t>	Mit einer Ausstattung, die noch sehr zu wünschen übrig lässt und reichlich Motivation stürzt ihr euch ins Geschehen. </a:t>
            </a:r>
          </a:p>
          <a:p>
            <a:endParaRPr lang="de-DE" dirty="0"/>
          </a:p>
          <a:p>
            <a:r>
              <a:rPr lang="de-DE" dirty="0"/>
              <a:t>Verborgen vor dem wachsamen Auge der Polizei müsst ihr die verschiedenen Gefahren und Herausforderungen des Drogengeschäfts meistern, bevor eure Zeit abläuft.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02C0-270A-4CDC-A334-B2329532F019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5442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02C0-270A-4CDC-A334-B2329532F019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5675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AB2F86-4010-2CDE-87B1-22ECD26FB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C5ED4DC-72FB-C56E-F6EC-1778D3B64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02ACAAA-BE6F-412B-C7E2-33373C50A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1F675A-4026-1789-F14C-6BDBB2C7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E7FF24-807D-B474-9C21-2BFF2FF4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122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87EF5F-25F8-7B27-5E13-0FE37292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48B1222-DC6E-53B1-7ECA-09313FF11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470C72-AA8D-03CC-8454-E36C8FA07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0766F38-1A3E-3D0E-38A1-933C3A7B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604FE9-9B3D-EB2B-5B81-DEA1E67C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940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BB0BE2-C611-E15B-A3F2-FFF45C62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BD9226-A41D-57B9-15C3-717DF28BF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78B510-A454-A0C6-6795-2E0F2A390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6860C8-4C66-08F0-C976-5F02E6A6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394586-0168-BD62-9FB6-0D34A7FF8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41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B90331-3972-AEF1-9B04-EEDDE0FE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979EE6-DDF3-2A83-ADDA-109F0EBAC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C8B36A3-FD54-3A35-1E69-A0E51E86E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9A6B41-4A65-599E-7644-B29340F4F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46A617-C76F-2040-2E38-E8BF70F6E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AAB145-8738-88DE-8600-E6E4FCB6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7249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5A6906-7C18-25F9-17D9-A04291E0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2A6795-FFDF-F733-4FFD-5FD95EC49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119F20-CEBE-1DA5-0ED8-95CD10AB6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8807FAE-408A-34EF-904E-6119CC150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E4596CA-164D-B51B-30D7-F032AE497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08EC21-4B18-33CD-A099-4CD1D9DD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CDBB3D5-7087-74F2-3635-F25A72DA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0E66BD3-C566-D891-7CAB-D93ADFA0F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53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F6DF6D-8814-208F-4A7D-426120C0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3DFBB24-C8A5-751E-6007-1F187379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5502A4D-F2D7-48ED-7534-449C02C5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D916EAE-54C1-B986-5618-E1CE2779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092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78C881-8D9F-50D3-AD2B-61330D3E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ECA44E5-239B-43D2-AA3F-3A8770FC0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191AF53-5B5B-441E-3AD7-909D49DD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781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4AB26-4358-04AD-6213-14EAEBF1C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5DCDB5-FD3C-D46F-4505-9A77CFFF2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FFD65EF-2F24-4ED5-0D85-14A809E73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03EB30-2E49-EF3D-9184-E16B991D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C081761-9865-75A2-7CD0-9BC3A284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1B83DA-211E-7EA1-3A06-E414A1076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3650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4E192-5111-BA2B-BD93-52A747195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2A7DDD3-BCFA-CDB1-061D-393E7BCD2F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23B68F-C68B-45FD-1308-3CB042C36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0FF8B1-2ACE-6B62-6F91-4475FC24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CDB054D-221A-0AB4-A1B2-8AFA1837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1997E8A-3816-809A-8EA4-8E59DF30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5844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092C12-6E8A-E50D-5E1F-7D02F79A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F7F9D2C-C017-E8B7-25EF-98B138740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3656C9-08E5-B3BA-B351-2210AD9E7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3B7D0-0256-F175-02F0-778A6868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11C754-ACF4-492D-2822-98E596CE1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32768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D7CBDDD-267B-AC9D-5A2B-AE390F87A8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E841F8-CA05-8E0A-13D5-01F7C65C8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BE1259-C553-C443-4518-AAF6A2543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CA7A15-7E97-80D5-235F-04902C381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FE4534-13D0-AEA2-0280-36D95AEB1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7023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DB11276-769F-7C5B-2513-87E7811E1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5FB6FD-7D7C-AED0-4749-01CE19EC9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F81D07-42B0-4DE4-8F13-67BD90F71D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94525-1002-4C43-A4F8-602FC45347D4}" type="datetimeFigureOut">
              <a:rPr lang="de-DE" smtClean="0"/>
              <a:t>11.11.2024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5A215B-3931-B0EF-D884-8A0FA8FF1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25EDF2-2569-1F78-9F32-4B1D4617F8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35396-FBDE-4D79-91D8-05D3899EBB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696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A87A78-61B0-AD8F-6EEC-D24FD81EC5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Breaking </a:t>
            </a:r>
            <a:r>
              <a:rPr lang="de-DE" dirty="0" err="1"/>
              <a:t>Worse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B1B3B2-7FCD-4BDC-C656-E706B10A9B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A4BBF3-DFE4-92F9-DDDF-AF49B35F6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67352" y="-488671"/>
            <a:ext cx="15660952" cy="73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792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AE179688-0D52-8710-FDB8-A858ED66E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0DF4C1-7D90-6133-8755-AC5C85193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Übersicht – „Breaking </a:t>
            </a:r>
            <a:r>
              <a:rPr lang="de-DE" b="1" dirty="0" err="1">
                <a:solidFill>
                  <a:schemeClr val="bg1"/>
                </a:solidFill>
              </a:rPr>
              <a:t>Worse</a:t>
            </a:r>
            <a:r>
              <a:rPr lang="de-DE" b="1" dirty="0">
                <a:solidFill>
                  <a:schemeClr val="bg1"/>
                </a:solidFill>
              </a:rPr>
              <a:t>“?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29854A-3467-4003-E27D-C8D92D601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6558" cy="4351338"/>
          </a:xfrm>
        </p:spPr>
        <p:txBody>
          <a:bodyPr>
            <a:normAutofit/>
          </a:bodyPr>
          <a:lstStyle/>
          <a:p>
            <a:r>
              <a:rPr lang="de-DE" dirty="0"/>
              <a:t>Basiert auf der Welt von „Breaking Bad“</a:t>
            </a:r>
          </a:p>
          <a:p>
            <a:pPr lvl="1"/>
            <a:r>
              <a:rPr lang="de-DE" dirty="0"/>
              <a:t>Diagnose Krebs und unmöglich hohe Heilungskosten</a:t>
            </a:r>
          </a:p>
          <a:p>
            <a:pPr lvl="1"/>
            <a:r>
              <a:rPr lang="de-DE" dirty="0"/>
              <a:t>Lösung: Schnelles Geld durch Drogenhandel</a:t>
            </a:r>
          </a:p>
          <a:p>
            <a:pPr lvl="1"/>
            <a:endParaRPr lang="de-DE" dirty="0"/>
          </a:p>
          <a:p>
            <a:r>
              <a:rPr lang="de-DE" dirty="0"/>
              <a:t>2 Spieler: ähnlich zu Walter White und Jesse Pinkman</a:t>
            </a:r>
          </a:p>
          <a:p>
            <a:pPr lvl="1"/>
            <a:r>
              <a:rPr lang="de-DE" dirty="0"/>
              <a:t>Allerdings: Spieler sind anfangs noch keine „Meisterköche“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52580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2EBC5-F836-9F04-CE95-AABE8386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D85E20DD-B0D4-1FEC-1C28-9BF3468F4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579D70-2368-627C-522C-3CD56153F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Spielziele – „</a:t>
            </a:r>
            <a:r>
              <a:rPr lang="de-DE" b="1" dirty="0" err="1">
                <a:solidFill>
                  <a:schemeClr val="bg1"/>
                </a:solidFill>
              </a:rPr>
              <a:t>Win</a:t>
            </a:r>
            <a:r>
              <a:rPr lang="de-DE" b="1" dirty="0">
                <a:solidFill>
                  <a:schemeClr val="bg1"/>
                </a:solidFill>
              </a:rPr>
              <a:t> </a:t>
            </a:r>
            <a:r>
              <a:rPr lang="de-DE" b="1" dirty="0" err="1">
                <a:solidFill>
                  <a:schemeClr val="bg1"/>
                </a:solidFill>
              </a:rPr>
              <a:t>or</a:t>
            </a:r>
            <a:r>
              <a:rPr lang="de-DE" b="1" dirty="0">
                <a:solidFill>
                  <a:schemeClr val="bg1"/>
                </a:solidFill>
              </a:rPr>
              <a:t> Game Over“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A32B2C-EE7D-97C6-099F-86226CE41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Gewinnkriterien:</a:t>
            </a:r>
          </a:p>
          <a:p>
            <a:pPr lvl="1"/>
            <a:r>
              <a:rPr lang="de-DE" dirty="0"/>
              <a:t>Genug Geld für „Kauf der Heilung“ erreicht</a:t>
            </a:r>
          </a:p>
          <a:p>
            <a:pPr lvl="1"/>
            <a:r>
              <a:rPr lang="de-DE" dirty="0"/>
              <a:t>Lebenspunkte nicht auf 0</a:t>
            </a:r>
          </a:p>
          <a:p>
            <a:pPr lvl="1"/>
            <a:r>
              <a:rPr lang="de-DE" dirty="0"/>
              <a:t>Kooperation beider Spieler elementar</a:t>
            </a:r>
          </a:p>
          <a:p>
            <a:endParaRPr lang="de-DE" dirty="0"/>
          </a:p>
          <a:p>
            <a:r>
              <a:rPr lang="de-DE" dirty="0"/>
              <a:t>„Game Over“:</a:t>
            </a:r>
          </a:p>
          <a:p>
            <a:pPr lvl="1"/>
            <a:r>
              <a:rPr lang="de-DE" dirty="0"/>
              <a:t>Zeit abgelaufen</a:t>
            </a:r>
          </a:p>
          <a:p>
            <a:pPr lvl="1"/>
            <a:r>
              <a:rPr lang="de-DE" dirty="0"/>
              <a:t>Lebenspunkte endgültig auf 0</a:t>
            </a:r>
          </a:p>
        </p:txBody>
      </p:sp>
    </p:spTree>
    <p:extLst>
      <p:ext uri="{BB962C8B-B14F-4D97-AF65-F5344CB8AC3E}">
        <p14:creationId xmlns:p14="http://schemas.microsoft.com/office/powerpoint/2010/main" val="735953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75C3-6A27-ABED-5F6A-F8AD4F1E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B425134D-7F43-4720-822B-89E1D07F38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F68B316-F9A7-08B9-4E16-A42786F11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- Basics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8A8D60-60B7-97EE-DB74-AF07A8147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2D Welt</a:t>
            </a:r>
          </a:p>
          <a:p>
            <a:r>
              <a:rPr lang="de-DE" dirty="0"/>
              <a:t>Freies Bewegen auf Karte</a:t>
            </a:r>
          </a:p>
          <a:p>
            <a:pPr lvl="1"/>
            <a:r>
              <a:rPr lang="de-DE" dirty="0"/>
              <a:t>Stadt</a:t>
            </a:r>
          </a:p>
          <a:p>
            <a:pPr lvl="1"/>
            <a:r>
              <a:rPr lang="de-DE" dirty="0"/>
              <a:t>Haus der Spieler mit „Küche“</a:t>
            </a:r>
          </a:p>
          <a:p>
            <a:pPr lvl="1"/>
            <a:endParaRPr lang="de-DE" dirty="0"/>
          </a:p>
          <a:p>
            <a:r>
              <a:rPr lang="de-DE" dirty="0"/>
              <a:t>Begrenzte Ressourcen:</a:t>
            </a:r>
          </a:p>
          <a:p>
            <a:pPr lvl="1"/>
            <a:r>
              <a:rPr lang="de-DE" dirty="0"/>
              <a:t>Zeit</a:t>
            </a:r>
          </a:p>
          <a:p>
            <a:pPr lvl="1"/>
            <a:r>
              <a:rPr lang="de-DE" dirty="0"/>
              <a:t>Geld</a:t>
            </a:r>
          </a:p>
          <a:p>
            <a:pPr lvl="1"/>
            <a:r>
              <a:rPr lang="de-DE" dirty="0"/>
              <a:t>Lebenspunkte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489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726D-732A-B154-54BC-3E15E025A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3709F19-5FE0-9224-7E85-7B752DAC0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030AC23-C87E-4D24-A649-8119B44F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- Kernprinzip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8D4C453-DB79-F324-4933-5090140EA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Begrenzte Ressourcen: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Einzig nicht erneuerbar: Zeit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Geld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Lebenspunkte</a:t>
            </a:r>
          </a:p>
        </p:txBody>
      </p:sp>
    </p:spTree>
    <p:extLst>
      <p:ext uri="{BB962C8B-B14F-4D97-AF65-F5344CB8AC3E}">
        <p14:creationId xmlns:p14="http://schemas.microsoft.com/office/powerpoint/2010/main" val="186995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DE2D3-77A0-3FDB-FACC-1B28D346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583FBFC-6479-C53B-76A6-72CA4CAB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4E25213-79DC-4390-32B9-58135DD6B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- Kernprinzip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EEFEC4-C3D7-C71F-DB54-AA353B79F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Zeit:</a:t>
            </a:r>
          </a:p>
          <a:p>
            <a:pPr lvl="1"/>
            <a:r>
              <a:rPr lang="de-DE" dirty="0"/>
              <a:t>„Wie lange verbleibt bis zum Tod durch die Krankheit?“</a:t>
            </a:r>
          </a:p>
          <a:p>
            <a:pPr lvl="2"/>
            <a:r>
              <a:rPr lang="de-DE" dirty="0"/>
              <a:t>Wenn Zeit auf null: Game </a:t>
            </a:r>
            <a:r>
              <a:rPr lang="de-DE" dirty="0" err="1"/>
              <a:t>over</a:t>
            </a:r>
            <a:r>
              <a:rPr lang="de-DE" dirty="0"/>
              <a:t>!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Läuft während des Spiels ab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Zusätzlicher Verlust:</a:t>
            </a:r>
          </a:p>
          <a:p>
            <a:pPr lvl="2"/>
            <a:r>
              <a:rPr lang="de-DE" dirty="0"/>
              <a:t>Haftstrafe</a:t>
            </a:r>
          </a:p>
          <a:p>
            <a:pPr lvl="2"/>
            <a:r>
              <a:rPr lang="de-DE" dirty="0"/>
              <a:t>Ablaufen der Lebenspunkte</a:t>
            </a:r>
          </a:p>
          <a:p>
            <a:pPr lvl="2"/>
            <a:r>
              <a:rPr lang="de-DE" dirty="0"/>
              <a:t>Auffüllen der Lebenspunkte</a:t>
            </a:r>
          </a:p>
          <a:p>
            <a:pPr lvl="2"/>
            <a:r>
              <a:rPr lang="de-DE" dirty="0"/>
              <a:t>Nicht volle Lebenspunkte über Zeit</a:t>
            </a:r>
          </a:p>
          <a:p>
            <a:pPr lvl="2"/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148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86AD1-32B8-0362-1156-F299FF95B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E593AA1B-BBF3-252A-90A1-6CF2712C9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395D747-977F-5133-5554-9505F4C8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- Kernprinzip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79326F5-7C62-FAAB-B803-31F127203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Geld:</a:t>
            </a:r>
          </a:p>
          <a:p>
            <a:pPr lvl="1"/>
            <a:r>
              <a:rPr lang="de-DE" dirty="0"/>
              <a:t>„Können wir uns die Heilung leisten?“</a:t>
            </a:r>
          </a:p>
          <a:p>
            <a:pPr lvl="2"/>
            <a:r>
              <a:rPr lang="de-DE" dirty="0"/>
              <a:t>Spielziel erreicht!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Ermöglicht Kauf von</a:t>
            </a:r>
          </a:p>
          <a:p>
            <a:pPr lvl="2"/>
            <a:r>
              <a:rPr lang="de-DE" dirty="0"/>
              <a:t>Rohstoffen</a:t>
            </a:r>
          </a:p>
          <a:p>
            <a:pPr lvl="2"/>
            <a:r>
              <a:rPr lang="de-DE" dirty="0"/>
              <a:t>Auffüllen der Lebenspunkte</a:t>
            </a:r>
          </a:p>
          <a:p>
            <a:pPr lvl="2"/>
            <a:r>
              <a:rPr lang="de-DE" dirty="0"/>
              <a:t>Ausbau der Küche &amp; Produktion</a:t>
            </a:r>
          </a:p>
          <a:p>
            <a:pPr lvl="1"/>
            <a:r>
              <a:rPr lang="de-DE" dirty="0"/>
              <a:t>Bei Ausbau: Risikomanagement</a:t>
            </a:r>
          </a:p>
          <a:p>
            <a:pPr lvl="2"/>
            <a:r>
              <a:rPr lang="de-DE" dirty="0"/>
              <a:t>„</a:t>
            </a:r>
            <a:r>
              <a:rPr lang="de-DE" dirty="0" err="1"/>
              <a:t>Known</a:t>
            </a:r>
            <a:r>
              <a:rPr lang="de-DE" dirty="0"/>
              <a:t> Risk“ Vs. „High Risk“</a:t>
            </a:r>
          </a:p>
        </p:txBody>
      </p:sp>
    </p:spTree>
    <p:extLst>
      <p:ext uri="{BB962C8B-B14F-4D97-AF65-F5344CB8AC3E}">
        <p14:creationId xmlns:p14="http://schemas.microsoft.com/office/powerpoint/2010/main" val="93147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39E7C-90DD-7F9A-1D17-6F383D4FA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521EAE3C-2C71-F5CD-AE3B-3AF5581BF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37A10D3-640D-1377-62B6-7C0048A12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- Kernprinzip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905432-A413-0A42-C335-24DA9DAAD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Lebenspunkte LP:</a:t>
            </a:r>
          </a:p>
          <a:p>
            <a:pPr lvl="1"/>
            <a:r>
              <a:rPr lang="de-DE" dirty="0"/>
              <a:t>„Handlungsspielraum“ bei Konfrontation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Bei Verlust von LP:</a:t>
            </a:r>
          </a:p>
          <a:p>
            <a:pPr lvl="2"/>
            <a:r>
              <a:rPr lang="de-DE" dirty="0"/>
              <a:t>Weniger als maximale LP:</a:t>
            </a:r>
          </a:p>
          <a:p>
            <a:pPr lvl="3"/>
            <a:r>
              <a:rPr lang="de-DE" dirty="0"/>
              <a:t>Zeit läuft schneller ab</a:t>
            </a:r>
          </a:p>
          <a:p>
            <a:pPr lvl="3"/>
            <a:r>
              <a:rPr lang="de-DE" dirty="0"/>
              <a:t>Heilung möglich, kostet Geld</a:t>
            </a:r>
          </a:p>
          <a:p>
            <a:pPr lvl="2"/>
            <a:r>
              <a:rPr lang="de-DE" dirty="0"/>
              <a:t>0 verbleibende LP:</a:t>
            </a:r>
          </a:p>
          <a:p>
            <a:pPr lvl="3"/>
            <a:r>
              <a:rPr lang="de-DE" dirty="0"/>
              <a:t>Zweite Chance: Heilung auf kosten von Geld und Zeit</a:t>
            </a:r>
          </a:p>
          <a:p>
            <a:pPr lvl="3"/>
            <a:r>
              <a:rPr lang="de-DE" dirty="0"/>
              <a:t>Sonst: Game Over!</a:t>
            </a:r>
          </a:p>
        </p:txBody>
      </p:sp>
    </p:spTree>
    <p:extLst>
      <p:ext uri="{BB962C8B-B14F-4D97-AF65-F5344CB8AC3E}">
        <p14:creationId xmlns:p14="http://schemas.microsoft.com/office/powerpoint/2010/main" val="3670340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ED23D-4458-9F59-87D4-0EC6ACF8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9205BDD2-8FE4-C486-B103-4649965EE7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9719157-ED16-DB8D-955B-7BF16C5C3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– Gefahren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D13CC9E9-A864-D48A-5B43-EFDC46FB2AB5}"/>
              </a:ext>
            </a:extLst>
          </p:cNvPr>
          <p:cNvSpPr txBox="1">
            <a:spLocks/>
          </p:cNvSpPr>
          <p:nvPr/>
        </p:nvSpPr>
        <p:spPr>
          <a:xfrm>
            <a:off x="838199" y="1866264"/>
            <a:ext cx="4756486" cy="44428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Polizei:</a:t>
            </a:r>
          </a:p>
          <a:p>
            <a:pPr lvl="1"/>
            <a:r>
              <a:rPr lang="de-DE" sz="2000" dirty="0"/>
              <a:t>Primäre Antagonisten – Patrouillieren die Stadt</a:t>
            </a:r>
          </a:p>
          <a:p>
            <a:pPr lvl="1"/>
            <a:r>
              <a:rPr lang="de-DE" sz="2000" dirty="0"/>
              <a:t>Gefahr: Haftstrafe kostet Zeit und Geld</a:t>
            </a:r>
          </a:p>
          <a:p>
            <a:pPr lvl="1"/>
            <a:r>
              <a:rPr lang="de-DE" sz="2000" dirty="0"/>
              <a:t>Bei Kampf:</a:t>
            </a:r>
          </a:p>
          <a:p>
            <a:pPr lvl="2"/>
            <a:r>
              <a:rPr lang="de-DE" sz="1800" dirty="0"/>
              <a:t>Sehr gefährliche Gegner</a:t>
            </a:r>
          </a:p>
          <a:p>
            <a:pPr lvl="2"/>
            <a:r>
              <a:rPr lang="de-DE" sz="1800" dirty="0"/>
              <a:t>Verstecken besser als offener Kampf</a:t>
            </a:r>
          </a:p>
          <a:p>
            <a:r>
              <a:rPr lang="de-DE" sz="2400" dirty="0"/>
              <a:t>Fahndungslevel</a:t>
            </a:r>
          </a:p>
          <a:p>
            <a:pPr lvl="1"/>
            <a:r>
              <a:rPr lang="de-DE" sz="2000" dirty="0"/>
              <a:t>Zeigt Level der Polizeiaktivität an</a:t>
            </a:r>
          </a:p>
          <a:p>
            <a:pPr lvl="1"/>
            <a:r>
              <a:rPr lang="de-DE" sz="2000" dirty="0"/>
              <a:t>Verringert langsam über Zeit</a:t>
            </a:r>
          </a:p>
          <a:p>
            <a:pPr lvl="1"/>
            <a:r>
              <a:rPr lang="de-DE" sz="2000" dirty="0"/>
              <a:t>Nach Absitzen einer Haftstrafe reduziert</a:t>
            </a:r>
          </a:p>
          <a:p>
            <a:pPr lvl="1"/>
            <a:r>
              <a:rPr lang="de-DE" sz="2000" dirty="0"/>
              <a:t>Polizisten verfolgen die Spieler</a:t>
            </a:r>
          </a:p>
          <a:p>
            <a:endParaRPr lang="de-DE" sz="24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7A486ED-4119-52C8-E086-58838EFBA90B}"/>
              </a:ext>
            </a:extLst>
          </p:cNvPr>
          <p:cNvSpPr txBox="1">
            <a:spLocks/>
          </p:cNvSpPr>
          <p:nvPr/>
        </p:nvSpPr>
        <p:spPr>
          <a:xfrm>
            <a:off x="6019782" y="1866263"/>
            <a:ext cx="4756486" cy="4442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/>
              <a:t>Lokale Feinde – „Kartell“</a:t>
            </a:r>
          </a:p>
          <a:p>
            <a:pPr lvl="1"/>
            <a:r>
              <a:rPr lang="de-DE" sz="2000" dirty="0"/>
              <a:t>Bleiben auf ihrem Revier</a:t>
            </a:r>
          </a:p>
          <a:p>
            <a:pPr lvl="1"/>
            <a:r>
              <a:rPr lang="de-DE" sz="2000" dirty="0"/>
              <a:t>Kampf einfacher als gegen Polizei</a:t>
            </a:r>
          </a:p>
          <a:p>
            <a:pPr lvl="1"/>
            <a:r>
              <a:rPr lang="de-DE" sz="2000" dirty="0"/>
              <a:t>Kartellgegner verfolgen die Spieler nicht</a:t>
            </a:r>
          </a:p>
          <a:p>
            <a:pPr lvl="1"/>
            <a:endParaRPr lang="de-DE" dirty="0"/>
          </a:p>
          <a:p>
            <a:r>
              <a:rPr lang="de-DE" sz="2400" dirty="0"/>
              <a:t>Möglichkeit des Game Over durch:</a:t>
            </a:r>
          </a:p>
          <a:p>
            <a:pPr lvl="1"/>
            <a:r>
              <a:rPr lang="de-DE" sz="2000" dirty="0"/>
              <a:t>Haftstrafe länger als verbleibende Zeit</a:t>
            </a:r>
          </a:p>
          <a:p>
            <a:pPr lvl="1"/>
            <a:r>
              <a:rPr lang="de-DE" sz="2000" dirty="0"/>
              <a:t>Tod im Kampf mit Polizei oder Kartell</a:t>
            </a:r>
          </a:p>
        </p:txBody>
      </p:sp>
    </p:spTree>
    <p:extLst>
      <p:ext uri="{BB962C8B-B14F-4D97-AF65-F5344CB8AC3E}">
        <p14:creationId xmlns:p14="http://schemas.microsoft.com/office/powerpoint/2010/main" val="3592249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9D9B0-F841-5C71-1911-C8F235CE4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32C4767A-CFA2-A088-5647-EC39B4438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1F2EF53-E40F-2E66-D579-44AD5E251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– Beschaffen von Ressourcen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D5B913-BA55-E889-9DB6-6F398D9D5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DE" dirty="0"/>
              <a:t>Geld</a:t>
            </a:r>
          </a:p>
          <a:p>
            <a:pPr lvl="1"/>
            <a:r>
              <a:rPr lang="de-DE" dirty="0"/>
              <a:t>Verkauf von Drogen in der Stadt</a:t>
            </a:r>
          </a:p>
          <a:p>
            <a:pPr lvl="2"/>
            <a:r>
              <a:rPr lang="de-DE" dirty="0"/>
              <a:t>Risikomanagement: Verkauf bei Gegnern gefährlich</a:t>
            </a:r>
          </a:p>
          <a:p>
            <a:pPr lvl="3"/>
            <a:r>
              <a:rPr lang="de-DE" sz="1900" dirty="0"/>
              <a:t>Verkauf in Kartellgegend lukrativer </a:t>
            </a:r>
          </a:p>
          <a:p>
            <a:pPr lvl="3"/>
            <a:r>
              <a:rPr lang="de-DE" sz="1900" dirty="0"/>
              <a:t>Verkauf vor Polizei erhöht Fahndungslevel</a:t>
            </a:r>
          </a:p>
          <a:p>
            <a:pPr lvl="1"/>
            <a:endParaRPr lang="de-DE" dirty="0"/>
          </a:p>
          <a:p>
            <a:r>
              <a:rPr lang="de-DE" dirty="0"/>
              <a:t>Lebenspunkte</a:t>
            </a:r>
          </a:p>
          <a:p>
            <a:pPr lvl="1"/>
            <a:r>
              <a:rPr lang="de-DE" dirty="0"/>
              <a:t>Heilung in der Klinik</a:t>
            </a:r>
          </a:p>
          <a:p>
            <a:pPr lvl="2"/>
            <a:r>
              <a:rPr lang="de-DE" dirty="0"/>
              <a:t>Teuer aber stoppt den schnellen Zeitverlust</a:t>
            </a:r>
          </a:p>
          <a:p>
            <a:pPr lvl="1"/>
            <a:endParaRPr lang="de-DE" dirty="0"/>
          </a:p>
          <a:p>
            <a:r>
              <a:rPr lang="de-DE" dirty="0"/>
              <a:t>Rohstoffe</a:t>
            </a:r>
          </a:p>
          <a:p>
            <a:pPr lvl="1"/>
            <a:r>
              <a:rPr lang="de-DE" dirty="0"/>
              <a:t>Kauf bei lokalen Händlern</a:t>
            </a:r>
          </a:p>
          <a:p>
            <a:pPr lvl="2"/>
            <a:r>
              <a:rPr lang="de-DE" dirty="0"/>
              <a:t>Kauf in Nähe von Polizei kann Fahndungslevel erhöhen</a:t>
            </a:r>
          </a:p>
          <a:p>
            <a:pPr lvl="1"/>
            <a:r>
              <a:rPr lang="de-DE" dirty="0"/>
              <a:t>Selten: Finden auf der Karte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806D5BD-B1FC-77A4-C0C0-1D43A6F9C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998" y="3429000"/>
            <a:ext cx="4078202" cy="337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92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E30FB-D914-BAE2-8133-D6542FBD7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430CE7DE-4EDC-68C3-B308-D533BD60F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DE6B6CE-7DF4-01AC-117D-766C82B8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Spielmechanik – Herstellung von Drogen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0776EA-1E5A-15B4-3594-5334EA6D5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Auswahl eines Rezepts</a:t>
            </a:r>
          </a:p>
          <a:p>
            <a:r>
              <a:rPr lang="de-DE" dirty="0"/>
              <a:t>Beschaffung der benötigten Ressourcen</a:t>
            </a:r>
          </a:p>
          <a:p>
            <a:r>
              <a:rPr lang="de-DE" dirty="0"/>
              <a:t>Verarbeitung der Ressourcen in der Küche</a:t>
            </a:r>
          </a:p>
          <a:p>
            <a:pPr lvl="1"/>
            <a:r>
              <a:rPr lang="de-DE" dirty="0"/>
              <a:t>Kooperation wichtig</a:t>
            </a:r>
          </a:p>
          <a:p>
            <a:r>
              <a:rPr lang="de-DE" dirty="0"/>
              <a:t>Ausbau der Küche:</a:t>
            </a:r>
          </a:p>
          <a:p>
            <a:pPr lvl="1"/>
            <a:r>
              <a:rPr lang="de-DE" dirty="0"/>
              <a:t>Kostet Geld</a:t>
            </a:r>
          </a:p>
          <a:p>
            <a:pPr lvl="1"/>
            <a:r>
              <a:rPr lang="de-DE" dirty="0"/>
              <a:t>Erhöht Produktionskapazität</a:t>
            </a:r>
          </a:p>
          <a:p>
            <a:pPr lvl="1"/>
            <a:r>
              <a:rPr lang="de-DE" dirty="0"/>
              <a:t>Erregt mehr Aufmerksamkeit</a:t>
            </a:r>
          </a:p>
          <a:p>
            <a:pPr lvl="2"/>
            <a:r>
              <a:rPr lang="de-DE" dirty="0"/>
              <a:t>Höheres Verdachtslevel</a:t>
            </a:r>
          </a:p>
          <a:p>
            <a:pPr lvl="2"/>
            <a:r>
              <a:rPr lang="de-DE" dirty="0"/>
              <a:t>Höhere Haftstrafen</a:t>
            </a:r>
          </a:p>
        </p:txBody>
      </p:sp>
    </p:spTree>
    <p:extLst>
      <p:ext uri="{BB962C8B-B14F-4D97-AF65-F5344CB8AC3E}">
        <p14:creationId xmlns:p14="http://schemas.microsoft.com/office/powerpoint/2010/main" val="3657457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5DEE-AF8D-9209-E84D-AE0E9680E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451727A-8385-5097-58EC-F8EC8335E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666" b="58073"/>
          <a:stretch/>
        </p:blipFill>
        <p:spPr>
          <a:xfrm>
            <a:off x="0" y="-3677920"/>
            <a:ext cx="12192000" cy="52527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E259BE1-5DBB-ECAD-ACDA-B4713368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chemeClr val="bg1"/>
                </a:solidFill>
              </a:rPr>
              <a:t>Spaßfaktoren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21DB79-8B8A-5730-C279-5D6030FEB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Warum macht das Spiel Spaß?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Spannung: Zeitlich immer limitiert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Freiheit: Spieler suchen sich ihren eigenen Weg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Kooperation: Spieler müssen eng zusammenarbeiten und planen um zu gewinnen</a:t>
            </a:r>
          </a:p>
          <a:p>
            <a:pPr lvl="1"/>
            <a:endParaRPr lang="de-DE" dirty="0"/>
          </a:p>
          <a:p>
            <a:pPr lvl="1"/>
            <a:r>
              <a:rPr lang="de-DE" dirty="0"/>
              <a:t>Abwechslung: Spieltempo wechselt zwischen langsam und schnell</a:t>
            </a:r>
          </a:p>
        </p:txBody>
      </p:sp>
    </p:spTree>
    <p:extLst>
      <p:ext uri="{BB962C8B-B14F-4D97-AF65-F5344CB8AC3E}">
        <p14:creationId xmlns:p14="http://schemas.microsoft.com/office/powerpoint/2010/main" val="87883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85B83CB-C892-55D7-C70B-2E1478461FE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A5CA8F9-55DF-05E0-CBE5-6A110A688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de-DE" b="1" dirty="0">
                <a:solidFill>
                  <a:schemeClr val="bg1"/>
                </a:solidFill>
              </a:rPr>
              <a:t>Haben Sie noch weitere Fragen?</a:t>
            </a:r>
          </a:p>
        </p:txBody>
      </p:sp>
    </p:spTree>
    <p:extLst>
      <p:ext uri="{BB962C8B-B14F-4D97-AF65-F5344CB8AC3E}">
        <p14:creationId xmlns:p14="http://schemas.microsoft.com/office/powerpoint/2010/main" val="3376699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Office PowerPoint</Application>
  <PresentationFormat>Breitbild</PresentationFormat>
  <Paragraphs>137</Paragraphs>
  <Slides>13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</vt:lpstr>
      <vt:lpstr>Breaking Worse</vt:lpstr>
      <vt:lpstr>Übersicht – „Breaking Worse“?</vt:lpstr>
      <vt:lpstr>Spielziele – „Win or Game Over“</vt:lpstr>
      <vt:lpstr>Spielmechanik - Basics</vt:lpstr>
      <vt:lpstr>Spielmechanik - Kernprinzip</vt:lpstr>
      <vt:lpstr>Spielmechanik - Kernprinzip</vt:lpstr>
      <vt:lpstr>Spielmechanik - Kernprinzip</vt:lpstr>
      <vt:lpstr>Spielmechanik - Kernprinzip</vt:lpstr>
      <vt:lpstr>Spielmechanik – Gefahren</vt:lpstr>
      <vt:lpstr>Spielmechanik – Beschaffen von Ressourcen</vt:lpstr>
      <vt:lpstr>Spielmechanik – Herstellung von Drogen</vt:lpstr>
      <vt:lpstr>Spaßfaktoren</vt:lpstr>
      <vt:lpstr>Haben Sie noch weitere 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Marlene Albrecht</dc:creator>
  <cp:lastModifiedBy>Marlene Albrecht</cp:lastModifiedBy>
  <cp:revision>2</cp:revision>
  <dcterms:created xsi:type="dcterms:W3CDTF">2024-11-11T12:53:44Z</dcterms:created>
  <dcterms:modified xsi:type="dcterms:W3CDTF">2024-11-11T18:28:51Z</dcterms:modified>
</cp:coreProperties>
</file>