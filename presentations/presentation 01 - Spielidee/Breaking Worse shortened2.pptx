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" name="Shape 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Ein Unglück kommt selten allein, du hast Krebs und die Heilung kostet ein Vermögen. </a:t>
            </a:r>
          </a:p>
          <a:p>
            <a:pPr/>
          </a:p>
          <a:p>
            <a:pPr/>
            <a:r>
              <a:t>Wo sollst du nur so schnell so viel Geld herbekommen? </a:t>
            </a:r>
          </a:p>
          <a:p>
            <a:pPr/>
          </a:p>
          <a:p>
            <a:pPr/>
            <a:r>
              <a:t>Zum Glück hat dein bester Freund eine Idee: </a:t>
            </a:r>
          </a:p>
          <a:p>
            <a:pPr/>
            <a:r>
              <a:t>	Ihr steigt zusammen in das lokale Drogengeschäft ein. </a:t>
            </a:r>
          </a:p>
          <a:p>
            <a:pPr/>
            <a:r>
              <a:t>	Mit einer Ausstattung, die noch sehr zu wünschen übrig lässt und reichlich Motivation stürzt ihr euch ins Geschehen. </a:t>
            </a:r>
          </a:p>
          <a:p>
            <a:pPr/>
          </a:p>
          <a:p>
            <a:pPr/>
            <a:r>
              <a:t>Verborgen vor dem wachsamen Auge der Polizei müsst ihr die verschiedenen Gefahren und Herausforderungen des Drogengeschäfts meistern, bevor eure Zeit abläuft.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2" name="Shape 1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Circle of life im game:  Kreislauf von:</a:t>
            </a:r>
          </a:p>
          <a:p>
            <a:pPr/>
            <a:r>
              <a:t>-Rohmaterialien und Ausstattung für Labor beschaffen</a:t>
            </a:r>
          </a:p>
          <a:p>
            <a:pPr/>
            <a:r>
              <a:t>- „Produkt“ herstellen was mit den Materialien möglich ist </a:t>
            </a:r>
          </a:p>
          <a:p>
            <a:pPr/>
            <a:r>
              <a:t>-Unter die Leute bringen (Zwickmühle zwischen Kartell und Polizei)</a:t>
            </a:r>
          </a:p>
          <a:p>
            <a:pPr/>
          </a:p>
          <a:p>
            <a:pPr/>
            <a:r>
              <a:t>Geld: In der Handlung von Breaking Bad noch vor Kooperation mit dem Kartell, im Moment noch Konkurrenz, was gesundheitlich suboptimal ist</a:t>
            </a:r>
          </a:p>
          <a:p>
            <a:pPr/>
          </a:p>
          <a:p>
            <a:pPr/>
            <a:r>
              <a:t>Lebenspunkte: Gesundheitlicher Schaden, aber auch Walts Krankheit muss geheilt werden gegen Geld</a:t>
            </a:r>
          </a:p>
          <a:p>
            <a:pPr/>
          </a:p>
          <a:p>
            <a:pPr/>
            <a:r>
              <a:t>Rohstoffe: Am Anfang finden wir vielleicht schlechte Ressourcen und können uns später mit mehr Geld bessere Rohstoffe und Laborausstattung bei seriösen Händlern kaufen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Shape 1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- speziell das kochen:</a:t>
            </a:r>
          </a:p>
          <a:p>
            <a:pPr/>
            <a:r>
              <a:t>-Je nach Ressourcen sind verschiedene Rezepte möglich, am anfange schlechtere…</a:t>
            </a:r>
          </a:p>
          <a:p>
            <a:pPr/>
          </a:p>
          <a:p>
            <a:pPr/>
            <a:r>
              <a:t> -für bessere Produkte brauch man seltenere Inhaltsstoffe und bessere Küche</a:t>
            </a:r>
          </a:p>
          <a:p>
            <a:pPr/>
          </a:p>
          <a:p>
            <a:pPr/>
            <a:r>
              <a:t>- allerdings kann eine bessere Küche mehr Aufmerksamkeit von der Polizei bedeuten</a:t>
            </a:r>
          </a:p>
          <a:p>
            <a:pPr/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1" name="Textebene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Titeltext</a:t>
            </a:r>
          </a:p>
        </p:txBody>
      </p:sp>
      <p:sp>
        <p:nvSpPr>
          <p:cNvPr id="30" name="Textebene 1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9" name="Textebene 1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8" name="Textebene 1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Textplatzhalt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Textplatzhalt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Bildplatzhalt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el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Breaking Worse</a:t>
            </a:r>
          </a:p>
        </p:txBody>
      </p:sp>
      <p:sp>
        <p:nvSpPr>
          <p:cNvPr id="95" name="Untertitel 2"/>
          <p:cNvSpPr txBox="1"/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96" name="Grafik 4" descr="Grafik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3367352" y="-488671"/>
            <a:ext cx="15660953" cy="73466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rcRect l="0" t="0" r="0" b="58073"/>
          <a:stretch>
            <a:fillRect/>
          </a:stretch>
        </p:blipFill>
        <p:spPr>
          <a:xfrm>
            <a:off x="0" y="-1300539"/>
            <a:ext cx="12192000" cy="2875340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Übersicht – „Breaking Worse“?</a:t>
            </a:r>
          </a:p>
        </p:txBody>
      </p:sp>
      <p:sp>
        <p:nvSpPr>
          <p:cNvPr id="102" name="Inhaltsplatzhalter 2"/>
          <p:cNvSpPr txBox="1"/>
          <p:nvPr>
            <p:ph type="body" sz="half" idx="1"/>
          </p:nvPr>
        </p:nvSpPr>
        <p:spPr>
          <a:xfrm>
            <a:off x="838200" y="1825625"/>
            <a:ext cx="6646558" cy="4351338"/>
          </a:xfrm>
          <a:prstGeom prst="rect">
            <a:avLst/>
          </a:prstGeom>
        </p:spPr>
        <p:txBody>
          <a:bodyPr/>
          <a:lstStyle/>
          <a:p>
            <a:pPr/>
            <a:r>
              <a:t>Basiert auf der Welt von „Breaking Bad“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Diagnose Krebs und unmöglich hohe Heilungskosten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Lösung: Schnelles Geld durch Drogenhandel</a:t>
            </a:r>
          </a:p>
          <a:p>
            <a:pPr lvl="1" marL="685800" indent="-228600">
              <a:spcBef>
                <a:spcPts val="500"/>
              </a:spcBef>
              <a:defRPr sz="2400"/>
            </a:pPr>
          </a:p>
          <a:p>
            <a:pPr/>
            <a:r>
              <a:t>2 Spieler: ähnlich zu Walter White und Jesse Pinkman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Allerdings: Spieler sind anfangs noch keine „Meisterköche“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rcRect l="0" t="0" r="0" b="58073"/>
          <a:stretch>
            <a:fillRect/>
          </a:stretch>
        </p:blipFill>
        <p:spPr>
          <a:xfrm>
            <a:off x="0" y="-1300539"/>
            <a:ext cx="12192000" cy="287534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Spielziele – „Win or Game Over“</a:t>
            </a:r>
          </a:p>
        </p:txBody>
      </p:sp>
      <p:sp>
        <p:nvSpPr>
          <p:cNvPr id="106" name="Inhaltsplatzhalt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/>
            <a:r>
              <a:t>Gewinnkriterien: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Genug Geld für „Kauf der Heilung“ erreicht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Lebenspunkte nicht auf 0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Kooperation beider Spieler elementar</a:t>
            </a:r>
          </a:p>
          <a:p>
            <a:pPr/>
            <a:endParaRPr sz="2400"/>
          </a:p>
          <a:p>
            <a:pPr/>
            <a:r>
              <a:t>„Game Over“: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Zeit abgelaufen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Lebenspunkte endgültig auf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rcRect l="0" t="0" r="0" b="58073"/>
          <a:stretch>
            <a:fillRect/>
          </a:stretch>
        </p:blipFill>
        <p:spPr>
          <a:xfrm>
            <a:off x="0" y="-1300539"/>
            <a:ext cx="12192000" cy="287534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Spielmechanik - Basics</a:t>
            </a:r>
          </a:p>
        </p:txBody>
      </p:sp>
      <p:sp>
        <p:nvSpPr>
          <p:cNvPr id="110" name="Inhaltsplatzhalt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/>
            <a:r>
              <a:t>2D Welt</a:t>
            </a:r>
          </a:p>
          <a:p>
            <a:pPr/>
            <a:r>
              <a:t>Freies Bewegen auf Karte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Stadt: NPC Interaktionen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Haus der Spieler mit „Küche“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Krankenhaus: Heilung für einen Preis</a:t>
            </a:r>
          </a:p>
          <a:p>
            <a:pPr lvl="1" marL="685800" indent="-228600">
              <a:spcBef>
                <a:spcPts val="500"/>
              </a:spcBef>
              <a:defRPr sz="2400"/>
            </a:pPr>
          </a:p>
          <a:p>
            <a:pPr/>
            <a:r>
              <a:t>Begrenzte Ressourcen: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Zeit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Geld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Lebenspunkte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rcRect l="0" t="0" r="0" b="58073"/>
          <a:stretch>
            <a:fillRect/>
          </a:stretch>
        </p:blipFill>
        <p:spPr>
          <a:xfrm>
            <a:off x="0" y="-1300539"/>
            <a:ext cx="12192000" cy="287534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Spielmechanik – Gefahren</a:t>
            </a:r>
          </a:p>
        </p:txBody>
      </p:sp>
      <p:sp>
        <p:nvSpPr>
          <p:cNvPr id="114" name="Inhaltsplatzhalter 2"/>
          <p:cNvSpPr txBox="1"/>
          <p:nvPr/>
        </p:nvSpPr>
        <p:spPr>
          <a:xfrm>
            <a:off x="883919" y="1866264"/>
            <a:ext cx="4665047" cy="4442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19455" indent="-219455" defTabSz="877823">
              <a:lnSpc>
                <a:spcPct val="81000"/>
              </a:lnSpc>
              <a:spcBef>
                <a:spcPts val="900"/>
              </a:spcBef>
              <a:buSzPct val="100000"/>
              <a:buFont typeface="Arial"/>
              <a:buChar char="•"/>
              <a:defRPr sz="2304"/>
            </a:pPr>
            <a:r>
              <a:t>Polizei:</a:t>
            </a:r>
            <a:endParaRPr sz="2688"/>
          </a:p>
          <a:p>
            <a:pPr lvl="1" marL="658368" indent="-219455" defTabSz="877823">
              <a:lnSpc>
                <a:spcPct val="81000"/>
              </a:lnSpc>
              <a:spcBef>
                <a:spcPts val="400"/>
              </a:spcBef>
              <a:buSzPct val="100000"/>
              <a:buFont typeface="Arial"/>
              <a:buChar char="•"/>
              <a:defRPr sz="1919"/>
            </a:pPr>
            <a:r>
              <a:t>Primäre Antagonisten – Patrouillieren die Stadt</a:t>
            </a:r>
            <a:endParaRPr sz="2304"/>
          </a:p>
          <a:p>
            <a:pPr lvl="1" marL="658368" indent="-219455" defTabSz="877823">
              <a:lnSpc>
                <a:spcPct val="81000"/>
              </a:lnSpc>
              <a:spcBef>
                <a:spcPts val="400"/>
              </a:spcBef>
              <a:buSzPct val="100000"/>
              <a:buFont typeface="Arial"/>
              <a:buChar char="•"/>
              <a:defRPr sz="1919"/>
            </a:pPr>
            <a:r>
              <a:t>Gefahr: Haftstrafe kostet Zeit und Geld</a:t>
            </a:r>
            <a:endParaRPr sz="2304"/>
          </a:p>
          <a:p>
            <a:pPr lvl="1" marL="658368" indent="-219455" defTabSz="877823">
              <a:lnSpc>
                <a:spcPct val="81000"/>
              </a:lnSpc>
              <a:spcBef>
                <a:spcPts val="400"/>
              </a:spcBef>
              <a:buSzPct val="100000"/>
              <a:buFont typeface="Arial"/>
              <a:buChar char="•"/>
              <a:defRPr sz="1919"/>
            </a:pPr>
            <a:r>
              <a:t>Bei Kampf:</a:t>
            </a:r>
            <a:endParaRPr sz="2304"/>
          </a:p>
          <a:p>
            <a:pPr lvl="2" marL="1097280" indent="-219455" defTabSz="877823">
              <a:lnSpc>
                <a:spcPct val="81000"/>
              </a:lnSpc>
              <a:spcBef>
                <a:spcPts val="400"/>
              </a:spcBef>
              <a:buSzPct val="100000"/>
              <a:buFont typeface="Arial"/>
              <a:buChar char="•"/>
              <a:defRPr sz="1727"/>
            </a:pPr>
            <a:r>
              <a:t>Sehr gefährliche Gegner</a:t>
            </a:r>
            <a:endParaRPr sz="1919"/>
          </a:p>
          <a:p>
            <a:pPr lvl="2" marL="1097280" indent="-219455" defTabSz="877823">
              <a:lnSpc>
                <a:spcPct val="81000"/>
              </a:lnSpc>
              <a:spcBef>
                <a:spcPts val="400"/>
              </a:spcBef>
              <a:buSzPct val="100000"/>
              <a:buFont typeface="Arial"/>
              <a:buChar char="•"/>
              <a:defRPr sz="1727"/>
            </a:pPr>
            <a:r>
              <a:t>Verstecken besser als offener Kampf</a:t>
            </a:r>
            <a:endParaRPr sz="1919"/>
          </a:p>
          <a:p>
            <a:pPr marL="219455" indent="-219455" defTabSz="877823">
              <a:lnSpc>
                <a:spcPct val="81000"/>
              </a:lnSpc>
              <a:spcBef>
                <a:spcPts val="900"/>
              </a:spcBef>
              <a:buSzPct val="100000"/>
              <a:buFont typeface="Arial"/>
              <a:buChar char="•"/>
              <a:defRPr sz="2304"/>
            </a:pPr>
            <a:r>
              <a:t>Fahndungslevel</a:t>
            </a:r>
            <a:endParaRPr sz="2688"/>
          </a:p>
          <a:p>
            <a:pPr lvl="1" marL="658368" indent="-219455" defTabSz="877823">
              <a:lnSpc>
                <a:spcPct val="81000"/>
              </a:lnSpc>
              <a:spcBef>
                <a:spcPts val="400"/>
              </a:spcBef>
              <a:buSzPct val="100000"/>
              <a:buFont typeface="Arial"/>
              <a:buChar char="•"/>
              <a:defRPr sz="1919"/>
            </a:pPr>
            <a:r>
              <a:t>Zeigt Level der Polizeiaktivität an</a:t>
            </a:r>
            <a:endParaRPr sz="2304"/>
          </a:p>
          <a:p>
            <a:pPr lvl="1" marL="658368" indent="-219455" defTabSz="877823">
              <a:lnSpc>
                <a:spcPct val="81000"/>
              </a:lnSpc>
              <a:spcBef>
                <a:spcPts val="400"/>
              </a:spcBef>
              <a:buSzPct val="100000"/>
              <a:buFont typeface="Arial"/>
              <a:buChar char="•"/>
              <a:defRPr sz="1919"/>
            </a:pPr>
            <a:r>
              <a:t>Verringert langsam über Zeit</a:t>
            </a:r>
            <a:endParaRPr sz="2304"/>
          </a:p>
          <a:p>
            <a:pPr lvl="1" marL="658368" indent="-219455" defTabSz="877823">
              <a:lnSpc>
                <a:spcPct val="81000"/>
              </a:lnSpc>
              <a:spcBef>
                <a:spcPts val="400"/>
              </a:spcBef>
              <a:buSzPct val="100000"/>
              <a:buFont typeface="Arial"/>
              <a:buChar char="•"/>
              <a:defRPr sz="1919"/>
            </a:pPr>
            <a:r>
              <a:t>Nach Absitzen einer Haftstrafe reduziert</a:t>
            </a:r>
            <a:endParaRPr sz="2304"/>
          </a:p>
          <a:p>
            <a:pPr lvl="1" marL="658368" indent="-219455" defTabSz="877823">
              <a:lnSpc>
                <a:spcPct val="81000"/>
              </a:lnSpc>
              <a:spcBef>
                <a:spcPts val="400"/>
              </a:spcBef>
              <a:buSzPct val="100000"/>
              <a:buFont typeface="Arial"/>
              <a:buChar char="•"/>
              <a:defRPr sz="1919"/>
            </a:pPr>
            <a:r>
              <a:t>Polizisten verfolgen die Spieler</a:t>
            </a:r>
            <a:endParaRPr sz="2304"/>
          </a:p>
        </p:txBody>
      </p:sp>
      <p:sp>
        <p:nvSpPr>
          <p:cNvPr id="115" name="Inhaltsplatzhalter 2"/>
          <p:cNvSpPr txBox="1"/>
          <p:nvPr/>
        </p:nvSpPr>
        <p:spPr>
          <a:xfrm>
            <a:off x="6065502" y="1866263"/>
            <a:ext cx="4665047" cy="4442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400"/>
            </a:pPr>
            <a:r>
              <a:t>Lokale Feinde – „Kartell“</a:t>
            </a:r>
            <a:endParaRPr sz="2800"/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000"/>
            </a:pPr>
            <a:r>
              <a:t>Bleiben auf ihrem Revier</a:t>
            </a:r>
            <a:endParaRPr sz="2400"/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000"/>
            </a:pPr>
            <a:r>
              <a:t>Kampf einfacher als gegen Polizei</a:t>
            </a:r>
            <a:endParaRPr sz="2400"/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000"/>
            </a:pPr>
            <a:r>
              <a:t>Kartellgegner verfolgen die Spieler nicht</a:t>
            </a:r>
            <a:endParaRPr sz="2400"/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400"/>
            </a:pPr>
            <a:r>
              <a:t>Möglichkeit des Game Over durch:</a:t>
            </a:r>
            <a:endParaRPr sz="2800"/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000"/>
            </a:pPr>
            <a:r>
              <a:t>Haftstrafe länger als verbleibende Zeit</a:t>
            </a:r>
            <a:endParaRPr sz="2400"/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000"/>
            </a:pPr>
            <a:r>
              <a:t>Tod im Kampf mit Polizei oder Kartell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rafik 6" descr="Grafik 6"/>
          <p:cNvPicPr>
            <a:picLocks noChangeAspect="1"/>
          </p:cNvPicPr>
          <p:nvPr/>
        </p:nvPicPr>
        <p:blipFill>
          <a:blip r:embed="rId3">
            <a:extLst/>
          </a:blip>
          <a:srcRect l="0" t="0" r="0" b="58073"/>
          <a:stretch>
            <a:fillRect/>
          </a:stretch>
        </p:blipFill>
        <p:spPr>
          <a:xfrm>
            <a:off x="0" y="-1300539"/>
            <a:ext cx="12192000" cy="2875340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Spielmechanik – Beschaffen von Ressourcen</a:t>
            </a:r>
          </a:p>
        </p:txBody>
      </p:sp>
      <p:sp>
        <p:nvSpPr>
          <p:cNvPr id="119" name="Inhaltsplatzhalt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212597" indent="-212597" defTabSz="850391">
              <a:lnSpc>
                <a:spcPct val="72000"/>
              </a:lnSpc>
              <a:spcBef>
                <a:spcPts val="900"/>
              </a:spcBef>
              <a:defRPr sz="2325"/>
            </a:pPr>
            <a:r>
              <a:t>Geld</a:t>
            </a:r>
          </a:p>
          <a:p>
            <a:pPr lvl="1" marL="637794" indent="-212597" defTabSz="850391">
              <a:lnSpc>
                <a:spcPct val="72000"/>
              </a:lnSpc>
              <a:spcBef>
                <a:spcPts val="400"/>
              </a:spcBef>
              <a:defRPr sz="2046"/>
            </a:pPr>
            <a:r>
              <a:t>Verkauf von Drogen in der Stadt</a:t>
            </a:r>
          </a:p>
          <a:p>
            <a:pPr lvl="2" marL="1062989" indent="-212597" defTabSz="850391">
              <a:lnSpc>
                <a:spcPct val="72000"/>
              </a:lnSpc>
              <a:spcBef>
                <a:spcPts val="400"/>
              </a:spcBef>
              <a:defRPr sz="1674"/>
            </a:pPr>
            <a:r>
              <a:t>Risikomanagement: Verkauf bei Gegnern gefährlich</a:t>
            </a:r>
          </a:p>
          <a:p>
            <a:pPr lvl="3" marL="1488186" indent="-212597" defTabSz="850391">
              <a:lnSpc>
                <a:spcPct val="72000"/>
              </a:lnSpc>
              <a:spcBef>
                <a:spcPts val="400"/>
              </a:spcBef>
              <a:defRPr sz="1581"/>
            </a:pPr>
            <a:r>
              <a:t>Verkauf in Kartellgegend lukrativer </a:t>
            </a:r>
            <a:endParaRPr sz="1488"/>
          </a:p>
          <a:p>
            <a:pPr lvl="3" marL="1488186" indent="-212597" defTabSz="850391">
              <a:lnSpc>
                <a:spcPct val="72000"/>
              </a:lnSpc>
              <a:spcBef>
                <a:spcPts val="400"/>
              </a:spcBef>
              <a:defRPr sz="1581"/>
            </a:pPr>
            <a:r>
              <a:t>Verkauf vor Polizei erhöht Fahndungslevel</a:t>
            </a:r>
            <a:endParaRPr sz="1488"/>
          </a:p>
          <a:p>
            <a:pPr lvl="1" marL="637794" indent="-212597" defTabSz="850391">
              <a:lnSpc>
                <a:spcPct val="72000"/>
              </a:lnSpc>
              <a:spcBef>
                <a:spcPts val="400"/>
              </a:spcBef>
              <a:defRPr sz="2046"/>
            </a:pPr>
          </a:p>
          <a:p>
            <a:pPr marL="212597" indent="-212597" defTabSz="850391">
              <a:lnSpc>
                <a:spcPct val="72000"/>
              </a:lnSpc>
              <a:spcBef>
                <a:spcPts val="900"/>
              </a:spcBef>
              <a:defRPr sz="2325"/>
            </a:pPr>
            <a:r>
              <a:t>Lebenspunkte</a:t>
            </a:r>
          </a:p>
          <a:p>
            <a:pPr lvl="1" marL="637794" indent="-212597" defTabSz="850391">
              <a:lnSpc>
                <a:spcPct val="72000"/>
              </a:lnSpc>
              <a:spcBef>
                <a:spcPts val="400"/>
              </a:spcBef>
              <a:defRPr sz="2046"/>
            </a:pPr>
            <a:r>
              <a:t>Heilung in der Klinik</a:t>
            </a:r>
          </a:p>
          <a:p>
            <a:pPr lvl="2" marL="1062989" indent="-212597" defTabSz="850391">
              <a:lnSpc>
                <a:spcPct val="72000"/>
              </a:lnSpc>
              <a:spcBef>
                <a:spcPts val="400"/>
              </a:spcBef>
              <a:defRPr sz="1674"/>
            </a:pPr>
            <a:r>
              <a:t>Teuer aber stoppt den schnellen Zeitverlust</a:t>
            </a:r>
          </a:p>
          <a:p>
            <a:pPr lvl="1" marL="637794" indent="-212597" defTabSz="850391">
              <a:lnSpc>
                <a:spcPct val="72000"/>
              </a:lnSpc>
              <a:spcBef>
                <a:spcPts val="400"/>
              </a:spcBef>
              <a:defRPr sz="2046"/>
            </a:pPr>
          </a:p>
          <a:p>
            <a:pPr marL="212597" indent="-212597" defTabSz="850391">
              <a:lnSpc>
                <a:spcPct val="72000"/>
              </a:lnSpc>
              <a:spcBef>
                <a:spcPts val="900"/>
              </a:spcBef>
              <a:defRPr sz="2325"/>
            </a:pPr>
            <a:r>
              <a:t>Rohstoffe</a:t>
            </a:r>
          </a:p>
          <a:p>
            <a:pPr lvl="1" marL="637794" indent="-212597" defTabSz="850391">
              <a:lnSpc>
                <a:spcPct val="72000"/>
              </a:lnSpc>
              <a:spcBef>
                <a:spcPts val="400"/>
              </a:spcBef>
              <a:defRPr sz="2046"/>
            </a:pPr>
            <a:r>
              <a:t>Kauf bei lokalen Händlern</a:t>
            </a:r>
          </a:p>
          <a:p>
            <a:pPr lvl="2" marL="1062989" indent="-212597" defTabSz="850391">
              <a:lnSpc>
                <a:spcPct val="72000"/>
              </a:lnSpc>
              <a:spcBef>
                <a:spcPts val="400"/>
              </a:spcBef>
              <a:defRPr sz="1674"/>
            </a:pPr>
            <a:r>
              <a:t>Kauf in Nähe von Polizei kann Fahndungslevel erhöhen</a:t>
            </a:r>
          </a:p>
          <a:p>
            <a:pPr lvl="1" marL="637794" indent="-212597" defTabSz="850391">
              <a:lnSpc>
                <a:spcPct val="72000"/>
              </a:lnSpc>
              <a:spcBef>
                <a:spcPts val="400"/>
              </a:spcBef>
              <a:defRPr sz="2046"/>
            </a:pPr>
            <a:r>
              <a:t>Selten: Finden auf der Karte</a:t>
            </a:r>
          </a:p>
        </p:txBody>
      </p:sp>
      <p:pic>
        <p:nvPicPr>
          <p:cNvPr id="120" name="Grafik 4" descr="Grafik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249100" y="2314867"/>
            <a:ext cx="4650330" cy="38460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rafik 6" descr="Grafik 6"/>
          <p:cNvPicPr>
            <a:picLocks noChangeAspect="1"/>
          </p:cNvPicPr>
          <p:nvPr/>
        </p:nvPicPr>
        <p:blipFill>
          <a:blip r:embed="rId3">
            <a:extLst/>
          </a:blip>
          <a:srcRect l="0" t="0" r="0" b="58073"/>
          <a:stretch>
            <a:fillRect/>
          </a:stretch>
        </p:blipFill>
        <p:spPr>
          <a:xfrm>
            <a:off x="0" y="-1300539"/>
            <a:ext cx="12192000" cy="2875340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Spielmechanik – Herstellung von Drogen</a:t>
            </a:r>
          </a:p>
        </p:txBody>
      </p:sp>
      <p:sp>
        <p:nvSpPr>
          <p:cNvPr id="126" name="Inhaltsplatzhalt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/>
            <a:r>
              <a:t>Auswahl eines Rezepts</a:t>
            </a:r>
          </a:p>
          <a:p>
            <a:pPr/>
            <a:r>
              <a:t>Beschaffung der benötigten Ressourcen</a:t>
            </a:r>
          </a:p>
          <a:p>
            <a:pPr/>
            <a:r>
              <a:t>Verarbeitung der Ressourcen in der Küche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Kooperation wichtig</a:t>
            </a:r>
          </a:p>
          <a:p>
            <a:pPr/>
            <a:r>
              <a:t>Ausbau der Küche: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Kostet Geld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Erhöht Produktionskapazität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Erregt mehr Aufmerksamkeit</a:t>
            </a:r>
          </a:p>
          <a:p>
            <a:pPr lvl="2" marL="1143000" indent="-228600">
              <a:spcBef>
                <a:spcPts val="500"/>
              </a:spcBef>
              <a:defRPr sz="2000"/>
            </a:pPr>
            <a:r>
              <a:t>Höheres Verdachtslevel</a:t>
            </a:r>
          </a:p>
          <a:p>
            <a:pPr lvl="2" marL="1143000" indent="-228600">
              <a:spcBef>
                <a:spcPts val="500"/>
              </a:spcBef>
              <a:defRPr sz="2000"/>
            </a:pPr>
            <a:r>
              <a:t>Höhere Haftstrafen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rcRect l="0" t="0" r="0" b="58073"/>
          <a:stretch>
            <a:fillRect/>
          </a:stretch>
        </p:blipFill>
        <p:spPr>
          <a:xfrm>
            <a:off x="0" y="-1300539"/>
            <a:ext cx="12192000" cy="287534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Spaßfaktoren</a:t>
            </a:r>
          </a:p>
        </p:txBody>
      </p:sp>
      <p:sp>
        <p:nvSpPr>
          <p:cNvPr id="132" name="Inhaltsplatzhalt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/>
            <a:r>
              <a:t>Warum macht das Spiel Spaß?</a:t>
            </a:r>
          </a:p>
          <a:p>
            <a:pPr lvl="1" marL="685800" indent="-228600">
              <a:spcBef>
                <a:spcPts val="500"/>
              </a:spcBef>
              <a:defRPr sz="2400"/>
            </a:pPr>
          </a:p>
          <a:p>
            <a:pPr lvl="1" marL="685800" indent="-228600">
              <a:spcBef>
                <a:spcPts val="500"/>
              </a:spcBef>
              <a:defRPr sz="2400"/>
            </a:pPr>
            <a:r>
              <a:t>Spannung: Zeitlich immer limitiert</a:t>
            </a:r>
          </a:p>
          <a:p>
            <a:pPr lvl="1" marL="685800" indent="-228600">
              <a:spcBef>
                <a:spcPts val="500"/>
              </a:spcBef>
              <a:defRPr sz="2400"/>
            </a:pPr>
          </a:p>
          <a:p>
            <a:pPr lvl="1" marL="685800" indent="-228600">
              <a:spcBef>
                <a:spcPts val="500"/>
              </a:spcBef>
              <a:defRPr sz="2400"/>
            </a:pPr>
            <a:r>
              <a:t>Freiheit: Spieler suchen sich ihren eigenen Weg</a:t>
            </a:r>
          </a:p>
          <a:p>
            <a:pPr lvl="1" marL="685800" indent="-228600">
              <a:spcBef>
                <a:spcPts val="500"/>
              </a:spcBef>
              <a:defRPr sz="2400"/>
            </a:pPr>
          </a:p>
          <a:p>
            <a:pPr lvl="1" marL="685800" indent="-228600">
              <a:spcBef>
                <a:spcPts val="500"/>
              </a:spcBef>
              <a:defRPr sz="2400"/>
            </a:pPr>
            <a:r>
              <a:t>Kooperation: Spieler müssen eng zusammenarbeiten und planen um zu gewinnen</a:t>
            </a:r>
          </a:p>
          <a:p>
            <a:pPr lvl="1" marL="685800" indent="-228600">
              <a:spcBef>
                <a:spcPts val="500"/>
              </a:spcBef>
              <a:defRPr sz="2400"/>
            </a:pPr>
          </a:p>
          <a:p>
            <a:pPr lvl="1" marL="685800" indent="-228600">
              <a:spcBef>
                <a:spcPts val="500"/>
              </a:spcBef>
              <a:defRPr sz="2400"/>
            </a:pPr>
            <a:r>
              <a:t>Abwechslung: Spieltempo wechselt zwischen langsam und schnell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rafik 4" descr="Grafik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el 1"/>
          <p:cNvSpPr txBox="1"/>
          <p:nvPr>
            <p:ph type="title"/>
          </p:nvPr>
        </p:nvSpPr>
        <p:spPr>
          <a:xfrm>
            <a:off x="838200" y="2766217"/>
            <a:ext cx="10515600" cy="132556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Haben Sie noch weitere Fragen?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